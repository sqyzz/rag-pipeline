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E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21945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A5BA0"/>
                </a:solidFill>
                <a:latin typeface="PingFang SC"/>
              </a:rPr>
              <a:t>硕士学位论文答辩汇报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875520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>
                <a:solidFill>
                  <a:srgbClr val="142E52"/>
                </a:solidFill>
                <a:latin typeface="Songti SC"/>
              </a:rPr>
              <a:t>基于GraphRAG的企业知识库检索优化研究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88920"/>
            <a:ext cx="8046720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56606E"/>
                </a:solidFill>
                <a:latin typeface="PingFang SC"/>
              </a:rPr>
              <a:t>汇报重点：面向复杂企业查询的问题拆解与规划驱动检索调度设计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37033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886200"/>
            <a:ext cx="4892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E232A"/>
                </a:solidFill>
                <a:latin typeface="PingFang SC"/>
              </a:rPr>
              <a:t>论文作者：沈秋雨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251960"/>
            <a:ext cx="4892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E232A"/>
                </a:solidFill>
                <a:latin typeface="PingFang SC"/>
              </a:rPr>
              <a:t>指导教师：程秀峰 教授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617720"/>
            <a:ext cx="48920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E232A"/>
                </a:solidFill>
                <a:latin typeface="PingFang SC"/>
              </a:rPr>
              <a:t>学科专业：图书情报    研究方向：信息组织与检索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6016752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E"/>
                </a:solidFill>
                <a:latin typeface="PingFang SC"/>
              </a:rPr>
              <a:t>华中师范大学信息管理学院  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汇报结构与时间安排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02/11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65836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A5BA0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3474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研究背景与问题提出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74519"/>
            <a:ext cx="7132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企业知识检索复杂性 / 现有 RAG 与 GraphRAG 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682496"/>
            <a:ext cx="1097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68B85"/>
                </a:solidFill>
                <a:latin typeface="PingFang SC"/>
              </a:rPr>
              <a:t>约2分钟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96312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60904"/>
            <a:ext cx="65836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A5BA0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15184"/>
            <a:ext cx="3474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企业知识检索需求建模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53512"/>
            <a:ext cx="7132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多粒度知识对象 / 多类型任务意图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761488"/>
            <a:ext cx="1097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68B85"/>
                </a:solidFill>
                <a:latin typeface="PingFang SC"/>
              </a:rPr>
              <a:t>约2分钟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75304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39896"/>
            <a:ext cx="65836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A5BA0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94176"/>
            <a:ext cx="3474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问题拆解与框架设计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32504"/>
            <a:ext cx="7132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问题拆解 / 检索需求生成 / 路由调度 / 分层 GraphRAG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840480"/>
            <a:ext cx="1097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68B85"/>
                </a:solidFill>
                <a:latin typeface="PingFang SC"/>
              </a:rPr>
              <a:t>约4分钟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54296"/>
            <a:ext cx="107899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818888"/>
            <a:ext cx="65836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A5BA0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73168"/>
            <a:ext cx="34747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实验验证与研究结论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11496"/>
            <a:ext cx="7132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对比实验 / 业务案例 / 研究贡献与展望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4919472"/>
            <a:ext cx="10972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68B85"/>
                </a:solidFill>
                <a:latin typeface="PingFang SC"/>
              </a:rPr>
              <a:t>约2分钟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01 研究背景与问题提出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企业知识检索从“搜文档”转向“要答案”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03/11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4846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42E52"/>
                </a:solidFill>
                <a:latin typeface="PingFang SC"/>
              </a:rPr>
              <a:t>企业知识的组织特征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792224"/>
            <a:ext cx="960120" cy="256032"/>
          </a:xfrm>
          <a:prstGeom prst="rect">
            <a:avLst/>
          </a:prstGeom>
          <a:solidFill>
            <a:srgbClr val="2A5BA0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24228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多源分布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3749039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合同、SOP、研发资料、客服问答等散布在不同系统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596896"/>
            <a:ext cx="960120" cy="256032"/>
          </a:xfrm>
          <a:prstGeom prst="rect">
            <a:avLst/>
          </a:prstGeom>
          <a:solidFill>
            <a:srgbClr val="2A5BA0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628900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多粒度结构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3749039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字段、条款、段落、实体关系与主题社区并存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401568"/>
            <a:ext cx="960120" cy="256032"/>
          </a:xfrm>
          <a:prstGeom prst="rect">
            <a:avLst/>
          </a:prstGeom>
          <a:solidFill>
            <a:srgbClr val="268B85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433572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强证据要求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64991"/>
            <a:ext cx="3749039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严肃业务场景要求结论可追溯、可核验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206240"/>
            <a:ext cx="960120" cy="256032"/>
          </a:xfrm>
          <a:prstGeom prst="rect">
            <a:avLst/>
          </a:prstGeom>
          <a:solidFill>
            <a:srgbClr val="268B85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238244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动态演进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9664"/>
            <a:ext cx="3749039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版本更新与权限边界要求检索链路稳定可控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4754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42E52"/>
                </a:solidFill>
                <a:latin typeface="PingFang SC"/>
              </a:rPr>
              <a:t>对应的信息需求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1965960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A5BA0"/>
                </a:solidFill>
                <a:latin typeface="PingFang SC"/>
              </a:rPr>
              <a:t>局部事实定位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65960"/>
            <a:ext cx="25603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E232A"/>
                </a:solidFill>
                <a:latin typeface="PingFang SC"/>
              </a:rPr>
              <a:t>定位合同字段、数值、日期、责任主体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52928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990088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68B85"/>
                </a:solidFill>
                <a:latin typeface="PingFang SC"/>
              </a:rPr>
              <a:t>关系路径推理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90088"/>
            <a:ext cx="25603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E232A"/>
                </a:solidFill>
                <a:latin typeface="PingFang SC"/>
              </a:rPr>
              <a:t>识别条款之间的条件、限制、触发和补救关系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77056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4014216"/>
            <a:ext cx="1600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C48F37"/>
                </a:solidFill>
                <a:latin typeface="PingFang SC"/>
              </a:rPr>
              <a:t>全局语义理解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014216"/>
            <a:ext cx="25603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E232A"/>
                </a:solidFill>
                <a:latin typeface="PingFang SC"/>
              </a:rPr>
              <a:t>概括整体风险、主题分布与跨文档共性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59552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5669280"/>
            <a:ext cx="9966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核心挑战：同一企业问题往往同时包含事实定位、结构推理与全局归纳，固定检索管线难以适配。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01 研究背景与问题提出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现有方法瓶颈：为什么需要先做问题拆解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04/11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788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A5BA0"/>
                </a:solidFill>
                <a:latin typeface="PingFang SC"/>
              </a:rPr>
              <a:t>VectorRAG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2697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语义相似度召回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22191" y="1993392"/>
            <a:ext cx="493777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2743200"/>
            <a:ext cx="30632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证据碎片化；难以表达跨条款关系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41732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27632"/>
            <a:ext cx="2788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68B85"/>
                </a:solidFill>
                <a:latin typeface="PingFang SC"/>
              </a:rPr>
              <a:t>GraphRAG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84248"/>
            <a:ext cx="2697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实体关系图 + 社区摘要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25512" y="1993392"/>
            <a:ext cx="49377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53128" y="2743200"/>
            <a:ext cx="30632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全局语义较强；局部证据可能被摘要弱化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41732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627632"/>
            <a:ext cx="278892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C48F37"/>
                </a:solidFill>
                <a:latin typeface="PingFang SC"/>
              </a:rPr>
              <a:t>E-GraphRAG 设计目标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1984248"/>
            <a:ext cx="2697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6606E"/>
                </a:solidFill>
                <a:latin typeface="PingFang SC"/>
              </a:rPr>
              <a:t>问题拆解 + 多路径路由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43200"/>
            <a:ext cx="306324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按证据粒度组织检索，提升可追溯与稳定性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2926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问题侧设计约束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160520"/>
            <a:ext cx="2395728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370832"/>
            <a:ext cx="212140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细粒度证据保持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36592"/>
            <a:ext cx="2057400" cy="3931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答案需回溯至具体条款或文本块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7" y="4160520"/>
            <a:ext cx="2395728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75887" y="4370832"/>
            <a:ext cx="212140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关系路径保持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736592"/>
            <a:ext cx="2057400" cy="3931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跨段落、跨条款证据链不能断裂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160520"/>
            <a:ext cx="2395728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4370832"/>
            <a:ext cx="212140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全局语义覆盖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36592"/>
            <a:ext cx="2057400" cy="3931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宏观主题需与底层证据映射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16567" y="4160520"/>
            <a:ext cx="2395728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53728" y="4370832"/>
            <a:ext cx="212140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动态任务规划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4736592"/>
            <a:ext cx="2057400" cy="3931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依据查询意图选择证据组织路径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06440"/>
            <a:ext cx="106984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A5BA0"/>
                </a:solidFill>
                <a:latin typeface="PingFang SC"/>
              </a:rPr>
              <a:t>结论：问题拆解不是附加步骤，而是将用户意图转译为可执行检索任务的必要中间层。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02 企业知识检索需求建模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检索对象：从碎片文本到多粒度知识网络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05/11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34440"/>
            <a:ext cx="8961120" cy="5303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353312"/>
            <a:ext cx="10058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C48F37"/>
                </a:solidFill>
                <a:latin typeface="PingFang SC"/>
              </a:rPr>
              <a:t>Level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25880"/>
            <a:ext cx="1417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宏观主题层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325880"/>
            <a:ext cx="53949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E232A"/>
                </a:solidFill>
                <a:latin typeface="PingFang SC"/>
              </a:rPr>
              <a:t>Community 节点：风险主题、合同类型、跨文档共性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020824"/>
            <a:ext cx="8503920" cy="5303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139696"/>
            <a:ext cx="10058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268B85"/>
                </a:solidFill>
                <a:latin typeface="PingFang SC"/>
              </a:rPr>
              <a:t>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12264"/>
            <a:ext cx="1417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中观概念层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12264"/>
            <a:ext cx="49377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E232A"/>
                </a:solidFill>
                <a:latin typeface="PingFang SC"/>
              </a:rPr>
              <a:t>Keyword 节点：义务、索赔、费用、保密等关键概念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807208"/>
            <a:ext cx="8046720" cy="5303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2926080"/>
            <a:ext cx="10058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2A5BA0"/>
                </a:solidFill>
                <a:latin typeface="PingFang SC"/>
              </a:rP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898648"/>
            <a:ext cx="1417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基础实体层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898648"/>
            <a:ext cx="4480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E232A"/>
                </a:solidFill>
                <a:latin typeface="PingFang SC"/>
              </a:rPr>
              <a:t>Entity 节点与逻辑边：主体、协议、义务、支付关系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593592"/>
            <a:ext cx="7589520" cy="5303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AE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3712464"/>
            <a:ext cx="10058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AE4643"/>
                </a:solidFill>
                <a:latin typeface="PingFang SC"/>
              </a:rPr>
              <a:t>Level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85032"/>
            <a:ext cx="1417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微观属性层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85032"/>
            <a:ext cx="4023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E232A"/>
                </a:solidFill>
                <a:latin typeface="PingFang SC"/>
              </a:rPr>
              <a:t>Attribute 节点：金额、日期、上限、责任主体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4379976"/>
            <a:ext cx="7132320" cy="5303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56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57400" y="4498848"/>
            <a:ext cx="10058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56606E"/>
                </a:solidFill>
                <a:latin typeface="PingFang SC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471416"/>
            <a:ext cx="14173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42E52"/>
                </a:solidFill>
                <a:latin typeface="PingFang SC"/>
              </a:rPr>
              <a:t>原文证据底座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471416"/>
            <a:ext cx="35661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1E232A"/>
                </a:solidFill>
                <a:latin typeface="PingFang SC"/>
              </a:rPr>
              <a:t>doc_id / chunk_id / node_id 保留溯源标识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1463040"/>
            <a:ext cx="333756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1719072"/>
            <a:ext cx="278892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建模价值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94560"/>
            <a:ext cx="269748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保留微观事实入口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显式维护实体关系路径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建立主题社区与原文映射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20" b="0">
                <a:solidFill>
                  <a:srgbClr val="1E232A"/>
                </a:solidFill>
                <a:latin typeface="PingFang SC"/>
              </a:rPr>
              <a:t>为后续路由调度提供图层边界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A5BA0"/>
                </a:solidFill>
                <a:latin typeface="PingFang SC"/>
              </a:rPr>
              <a:t>关键思路：不同检索需求对应不同知识粒度，系统必须支持跨粒度切换与证据回溯。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02 企业知识检索需求建模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任务意图：复杂问题如何分类并进入拆解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06/11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8813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任务类型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典型问题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核心能力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主要证据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单点事实查询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某条款规定的金额/日期/主体是什么？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精确定位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属性/实体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条款解释型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某保密义务具体包含哪些要求？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语义整合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条款片段 + 定义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多条款联动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终止、付款、违约责任如何相互影响？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路径推理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实体关系路径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合同风险审查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整体风险集中在哪些条款？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全局归纳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社区摘要 + 关系链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06908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42E52"/>
                </a:solidFill>
                <a:latin typeface="PingFang SC"/>
              </a:rPr>
              <a:t>从分类到拆解的判定标准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73659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A5BA0"/>
                </a:solidFill>
                <a:latin typeface="PingFang SC"/>
              </a:rPr>
              <a:t>锚点强度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47488"/>
            <a:ext cx="2606040" cy="2103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56606E"/>
                </a:solidFill>
                <a:latin typeface="PingFang SC"/>
              </a:rPr>
              <a:t>是否包含条款号、主体名称、金额、法律术语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57200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473659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68B85"/>
                </a:solidFill>
                <a:latin typeface="PingFang SC"/>
              </a:rPr>
              <a:t>关系跨度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047488"/>
            <a:ext cx="2606040" cy="2103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56606E"/>
                </a:solidFill>
                <a:latin typeface="PingFang SC"/>
              </a:rPr>
              <a:t>是否需要跨段落、跨章节或跨文档连接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7200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4736592"/>
            <a:ext cx="26974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C48F37"/>
                </a:solidFill>
                <a:latin typeface="PingFang SC"/>
              </a:rPr>
              <a:t>归纳层级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47488"/>
            <a:ext cx="2606040" cy="2103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56606E"/>
                </a:solidFill>
                <a:latin typeface="PingFang SC"/>
              </a:rPr>
              <a:t>是否要求从合同整体或主题社区形成判断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33872"/>
            <a:ext cx="103327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A5BA0"/>
                </a:solidFill>
                <a:latin typeface="PingFang SC"/>
              </a:rPr>
              <a:t>作用：任务意图分类决定问题拆解粒度、检索预算和后续路由类型。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03 问题拆解与框架设计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问题拆解：从自然语言问题到结构化检索需求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07/11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89888"/>
            <a:ext cx="103784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42E52"/>
                </a:solidFill>
                <a:latin typeface="PingFang SC"/>
              </a:rPr>
              <a:t>示例问题：某合同条款是否存在履约风险？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999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277977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A5BA0"/>
                </a:solidFill>
                <a:latin typeface="PingFang SC"/>
              </a:rPr>
              <a:t>1 识别任务意图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79192"/>
            <a:ext cx="2779776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判断属于风险审查，且同时包含事实定位、关系推理和全局归纳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2816352"/>
            <a:ext cx="530352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2240280"/>
            <a:ext cx="2999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377440"/>
            <a:ext cx="277977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68B85"/>
                </a:solidFill>
                <a:latin typeface="PingFang SC"/>
              </a:rPr>
              <a:t>2 拆分子问题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79192"/>
            <a:ext cx="2779776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定位相关条款；识别义务与责任；匹配限制条件；比较相似条款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2816352"/>
            <a:ext cx="530352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240280"/>
            <a:ext cx="2999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2377440"/>
            <a:ext cx="2779776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48F37"/>
                </a:solidFill>
                <a:latin typeface="PingFang SC"/>
              </a:rPr>
              <a:t>3 标注检索需求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679192"/>
            <a:ext cx="2779776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route_type、semantic_need、anchors、target_patterns、证据粒度和溯源要求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83464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42E52"/>
                </a:solidFill>
                <a:latin typeface="PingFang SC"/>
              </a:rPr>
              <a:t>拆解后的任务单元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960120" cy="256032"/>
          </a:xfrm>
          <a:prstGeom prst="rect">
            <a:avLst/>
          </a:prstGeom>
          <a:solidFill>
            <a:srgbClr val="2A5BA0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75404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334256"/>
            <a:ext cx="21945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E232A"/>
                </a:solidFill>
                <a:latin typeface="PingFang SC"/>
              </a:rPr>
              <a:t>找到合同条款与关键字段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334256"/>
            <a:ext cx="33832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条款号 / 金额 / 日期 / 主体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818888"/>
            <a:ext cx="960120" cy="256032"/>
          </a:xfrm>
          <a:prstGeom prst="rect">
            <a:avLst/>
          </a:prstGeom>
          <a:solidFill>
            <a:srgbClr val="268B85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850892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Structural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809744"/>
            <a:ext cx="21945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E232A"/>
                </a:solidFill>
                <a:latin typeface="PingFang SC"/>
              </a:rPr>
              <a:t>识别义务、限制和责任链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809744"/>
            <a:ext cx="33832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违约触发 / 赔偿上限 / 例外条件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294376"/>
            <a:ext cx="960120" cy="256032"/>
          </a:xfrm>
          <a:prstGeom prst="rect">
            <a:avLst/>
          </a:prstGeom>
          <a:solidFill>
            <a:srgbClr val="C48F37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326380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285232"/>
            <a:ext cx="21945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E232A"/>
                </a:solidFill>
                <a:latin typeface="PingFang SC"/>
              </a:rPr>
              <a:t>判断整体风险分布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5285232"/>
            <a:ext cx="338328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56606E"/>
                </a:solidFill>
                <a:latin typeface="PingFang SC"/>
              </a:rPr>
              <a:t>风险主题 / 社区摘要 / 跨条款共性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959352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4160520"/>
            <a:ext cx="29260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42E52"/>
                </a:solidFill>
                <a:latin typeface="PingFang SC"/>
              </a:rPr>
              <a:t>设计要点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553712"/>
            <a:ext cx="28346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80" b="0">
                <a:solidFill>
                  <a:srgbClr val="1E232A"/>
                </a:solidFill>
                <a:latin typeface="PingFang SC"/>
              </a:rPr>
              <a:t>LLM 只承担查询规划器角色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80" b="0">
                <a:solidFill>
                  <a:srgbClr val="1E232A"/>
                </a:solidFill>
                <a:latin typeface="PingFang SC"/>
              </a:rPr>
              <a:t>输出格式采用可编译 JSON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80" b="0">
                <a:solidFill>
                  <a:srgbClr val="1E232A"/>
                </a:solidFill>
                <a:latin typeface="PingFang SC"/>
              </a:rPr>
              <a:t>字段缺失时由后端规则兜底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03 问题拆解与框架设计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增强型 GraphRAG 总体框架：拆解结果如何进入系统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08/11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A5BA0"/>
                </a:solidFill>
                <a:latin typeface="PingFang SC"/>
              </a:rPr>
              <a:t>用户问题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复杂企业查询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10512" y="1920240"/>
            <a:ext cx="31089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76856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A5BA0"/>
                </a:solidFill>
                <a:latin typeface="PingFang SC"/>
              </a:rPr>
              <a:t>问题拆解器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856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Agentic Decomposer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1920240"/>
            <a:ext cx="31089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31336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41064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A5BA0"/>
                </a:solidFill>
                <a:latin typeface="PingFang SC"/>
              </a:rPr>
              <a:t>检索需求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子问题序列 + 路由标签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38928" y="1920240"/>
            <a:ext cx="31089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95544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05272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68B85"/>
                </a:solidFill>
                <a:latin typeface="PingFang SC"/>
              </a:rPr>
              <a:t>路由映射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绑定索引层级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03136" y="1920240"/>
            <a:ext cx="310895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59752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68B85"/>
                </a:solidFill>
                <a:latin typeface="PingFang SC"/>
              </a:rPr>
              <a:t>分层检索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Local / Structural / Global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67344" y="1920240"/>
            <a:ext cx="31089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23960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33688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68B85"/>
                </a:solidFill>
                <a:latin typeface="PingFang SC"/>
              </a:rPr>
              <a:t>证据整合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去重、重排、压缩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31552" y="1920240"/>
            <a:ext cx="310896" cy="0"/>
          </a:xfrm>
          <a:prstGeom prst="line">
            <a:avLst/>
          </a:prstGeom>
          <a:ln w="1778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88168" y="146304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97896" y="1600200"/>
            <a:ext cx="1078992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68B85"/>
                </a:solidFill>
                <a:latin typeface="PingFang SC"/>
              </a:rPr>
              <a:t>约束生成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7896" y="1901952"/>
            <a:ext cx="1078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可追溯答案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42E52"/>
                </a:solidFill>
                <a:latin typeface="PingFang SC"/>
              </a:rPr>
              <a:t>离线知识预处理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256630"/>
            <a:ext cx="416052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3346704"/>
            <a:ext cx="13716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A5BA0"/>
                </a:solidFill>
                <a:latin typeface="PingFang SC"/>
              </a:rPr>
              <a:t>Schema 约束抽取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346704"/>
            <a:ext cx="219456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实体、属性、关系三元组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813048"/>
            <a:ext cx="416052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3913632"/>
            <a:ext cx="13716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A5BA0"/>
                </a:solidFill>
                <a:latin typeface="PingFang SC"/>
              </a:rPr>
              <a:t>结构规范化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3913632"/>
            <a:ext cx="2334348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dirty="0" err="1">
                <a:solidFill>
                  <a:srgbClr val="56606E"/>
                </a:solidFill>
                <a:latin typeface="PingFang SC"/>
              </a:rPr>
              <a:t>实体归一、关系白名单、属性键值化</a:t>
            </a:r>
            <a:endParaRPr sz="1050" b="0" dirty="0">
              <a:solidFill>
                <a:srgbClr val="56606E"/>
              </a:solidFill>
              <a:latin typeface="PingFang SC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77240" y="4379976"/>
            <a:ext cx="416052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480560"/>
            <a:ext cx="137160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A5BA0"/>
                </a:solidFill>
                <a:latin typeface="PingFang SC"/>
              </a:rPr>
              <a:t>分层图索引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480560"/>
            <a:ext cx="2334348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dirty="0" err="1">
                <a:solidFill>
                  <a:srgbClr val="56606E"/>
                </a:solidFill>
                <a:latin typeface="PingFang SC"/>
              </a:rPr>
              <a:t>属性层、实体层、关键词层、社区层</a:t>
            </a:r>
            <a:endParaRPr sz="1050" b="0" dirty="0">
              <a:solidFill>
                <a:srgbClr val="56606E"/>
              </a:solidFill>
              <a:latin typeface="PingFang S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8076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42E52"/>
                </a:solidFill>
                <a:latin typeface="PingFang SC"/>
              </a:rPr>
              <a:t>在线指令检索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3246120"/>
            <a:ext cx="452628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3346704"/>
            <a:ext cx="11887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68B85"/>
                </a:solidFill>
                <a:latin typeface="PingFang SC"/>
              </a:rPr>
              <a:t>任务规划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346704"/>
            <a:ext cx="2606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根据问题意图生成可执行检索计划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0760" y="3813048"/>
            <a:ext cx="452628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3913632"/>
            <a:ext cx="11887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68B85"/>
                </a:solidFill>
                <a:latin typeface="PingFang SC"/>
              </a:rPr>
              <a:t>多路径召回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913632"/>
            <a:ext cx="2606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按路由调用不同图层与向量索引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0760" y="4379976"/>
            <a:ext cx="4526280" cy="40233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4480560"/>
            <a:ext cx="11887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68B85"/>
                </a:solidFill>
                <a:latin typeface="PingFang SC"/>
              </a:rPr>
              <a:t>证据约束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480560"/>
            <a:ext cx="260604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E"/>
                </a:solidFill>
                <a:latin typeface="PingFang SC"/>
              </a:rPr>
              <a:t>保留 doc_id / chunk_id 并控制生成边界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669280"/>
            <a:ext cx="104241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A5BA0"/>
                </a:solidFill>
                <a:latin typeface="PingFang SC"/>
              </a:rPr>
              <a:t>核心定位：问题拆解位于“用户意图”和“图检索执行”之间，是调度 GraphRAG 的中间控制层。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03 问题拆解与框架设计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路由调度：子问题如何绑定到不同图层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09/11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A5BA0"/>
                </a:solidFill>
                <a:latin typeface="PingFang SC"/>
              </a:rPr>
              <a:t>Local 路由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148840"/>
            <a:ext cx="2423160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313432"/>
            <a:ext cx="214884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42E52"/>
                </a:solidFill>
                <a:latin typeface="PingFang SC"/>
              </a:rPr>
              <a:t>局部事实定位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23317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E232A"/>
                </a:solidFill>
                <a:latin typeface="PingFang SC"/>
              </a:rPr>
              <a:t>Level1 属性层
Level2 实体层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26974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40" b="0">
                <a:solidFill>
                  <a:srgbClr val="56606E"/>
                </a:solidFill>
                <a:latin typeface="PingFang SC"/>
              </a:rPr>
              <a:t>单节点检索；窄 Top-k；高精度证据召回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325880"/>
            <a:ext cx="33375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68B85"/>
                </a:solidFill>
                <a:latin typeface="PingFang SC"/>
              </a:rPr>
              <a:t>Structural 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5192" y="2148840"/>
            <a:ext cx="2423160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02352" y="2313432"/>
            <a:ext cx="214884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42E52"/>
                </a:solidFill>
                <a:latin typeface="PingFang SC"/>
              </a:rPr>
              <a:t>跨条款关系推理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063240"/>
            <a:ext cx="23317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E232A"/>
                </a:solidFill>
                <a:latin typeface="PingFang SC"/>
              </a:rPr>
              <a:t>Level2 实体关系
Level3 关键词网桥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1" y="4069080"/>
            <a:ext cx="26974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40" b="0">
                <a:solidFill>
                  <a:srgbClr val="56606E"/>
                </a:solidFill>
                <a:latin typeface="PingFang SC"/>
              </a:rPr>
              <a:t>双路径检索；路径扩展；捕获多跳逻辑依赖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0183" y="1325880"/>
            <a:ext cx="33375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13063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C48F37"/>
                </a:solidFill>
                <a:latin typeface="PingFang SC"/>
              </a:rPr>
              <a:t>Global 路由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7384" y="2148840"/>
            <a:ext cx="2423160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24544" y="2313432"/>
            <a:ext cx="214884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42E52"/>
                </a:solidFill>
                <a:latin typeface="PingFang SC"/>
              </a:rPr>
              <a:t>全局风险与主题归纳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063240"/>
            <a:ext cx="23317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E232A"/>
                </a:solidFill>
                <a:latin typeface="PingFang SC"/>
              </a:rPr>
              <a:t>Level4 社区层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4069080"/>
            <a:ext cx="269748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40" b="0">
                <a:solidFill>
                  <a:srgbClr val="56606E"/>
                </a:solidFill>
                <a:latin typeface="PingFang SC"/>
              </a:rPr>
              <a:t>访问社区摘要；必要时回退至 Structural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05856"/>
            <a:ext cx="106070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2A5BA0"/>
                </a:solidFill>
                <a:latin typeface="PingFang SC"/>
              </a:rPr>
              <a:t>设计贡献：将“一个问题一次检索”转化为“拆解后多路由协同检索”，提升证据针对性与可解释性。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04 实验验证与研究结论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实验验证：问题拆解与路由调度带来的效果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10/11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80744"/>
            <a:ext cx="23317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56606E"/>
                </a:solidFill>
                <a:latin typeface="PingFang SC"/>
              </a:rPr>
              <a:t>局部事实检索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2331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2A5BA0"/>
                </a:solidFill>
                <a:latin typeface="PingFang SC"/>
              </a:rPr>
              <a:t>0.8765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2"/>
            <a:ext cx="23317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6606E"/>
                </a:solidFill>
                <a:latin typeface="PingFang SC"/>
              </a:rPr>
              <a:t>Context Precision；背景噪声由 35.6% 降至 12.3%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1380744"/>
            <a:ext cx="23317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56606E"/>
                </a:solidFill>
                <a:latin typeface="PingFang SC"/>
              </a:rPr>
              <a:t>全局语义整合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618488"/>
            <a:ext cx="2331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C48F37"/>
                </a:solidFill>
                <a:latin typeface="PingFang SC"/>
              </a:rPr>
              <a:t>0.9381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84832"/>
            <a:ext cx="23317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6606E"/>
                </a:solidFill>
                <a:latin typeface="PingFang SC"/>
              </a:rPr>
              <a:t>Semantic Similarity；宏观结论保持事实约束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380744"/>
            <a:ext cx="23317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56606E"/>
                </a:solidFill>
                <a:latin typeface="PingFang SC"/>
              </a:rPr>
              <a:t>回答准确率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18488"/>
            <a:ext cx="2331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268B85"/>
                </a:solidFill>
                <a:latin typeface="PingFang SC"/>
              </a:rPr>
              <a:t>0.6363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84832"/>
            <a:ext cx="23317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6606E"/>
                </a:solidFill>
                <a:latin typeface="PingFang SC"/>
              </a:rPr>
              <a:t>综合 Answer Correctness 优于对比基线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23444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380744"/>
            <a:ext cx="17373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56606E"/>
                </a:solidFill>
                <a:latin typeface="PingFang SC"/>
              </a:rPr>
              <a:t>资源开销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618488"/>
            <a:ext cx="173736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AE4643"/>
                </a:solidFill>
                <a:latin typeface="PingFang SC"/>
              </a:rPr>
              <a:t>169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084832"/>
            <a:ext cx="17373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6606E"/>
                </a:solidFill>
                <a:latin typeface="PingFang SC"/>
              </a:rPr>
              <a:t>Token/node；低于原生 GraphRAG 约 646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3232" y="297180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业务场景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复杂性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</a:rPr>
                        <a:t>E-GraphRAG 支撑方式</a:t>
                      </a:r>
                    </a:p>
                  </a:txBody>
                  <a:tcPr>
                    <a:solidFill>
                      <a:srgbClr val="14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单条款业务问题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违约责任与责任限制并联判断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Local 定位事实 + Structural 连接约束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条款解释型问题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定义、义务、救济分散于多处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多粒度证据整合形成解释结论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多条款联动问题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终止、付款、违约责任相互影响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路径检索维护跨条款逻辑链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合同风险审查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需从整体结构识别风险领域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32A"/>
                          </a:solidFill>
                          <a:latin typeface="PingFang SC"/>
                        </a:rPr>
                        <a:t>Global 社区摘要 + 底层证据回溯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22960" y="5715000"/>
            <a:ext cx="104698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20" b="1">
                <a:solidFill>
                  <a:srgbClr val="2A5BA0"/>
                </a:solidFill>
                <a:latin typeface="PingFang SC"/>
              </a:rPr>
              <a:t>结论：该设计以适度收敛物理召回为代价，换取更高上下文纯度、证据链稳定性与企业场景可解释性。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2A5BA0"/>
                </a:solidFill>
                <a:latin typeface="PingFang SC"/>
              </a:rPr>
              <a:t>04 实验验证与研究结论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05840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42E52"/>
                </a:solidFill>
                <a:latin typeface="PingFang SC"/>
              </a:rPr>
              <a:t>研究结论与未来展望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7DEE7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8229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56606E"/>
                </a:solidFill>
                <a:latin typeface="PingFang SC"/>
              </a:rPr>
              <a:t>11/11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4114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42E52"/>
                </a:solidFill>
                <a:latin typeface="PingFang SC"/>
              </a:rPr>
              <a:t>主要研究贡献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9072"/>
            <a:ext cx="960120" cy="256032"/>
          </a:xfrm>
          <a:prstGeom prst="rect">
            <a:avLst/>
          </a:prstGeom>
          <a:solidFill>
            <a:srgbClr val="2A5BA0"/>
          </a:solidFill>
          <a:ln w="10160">
            <a:solidFill>
              <a:srgbClr val="2A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51076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需求建模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91640"/>
            <a:ext cx="8046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从企业知识对象和查询意图两侧形式化复杂检索需求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960120" cy="256032"/>
          </a:xfrm>
          <a:prstGeom prst="rect">
            <a:avLst/>
          </a:prstGeom>
          <a:solidFill>
            <a:srgbClr val="268B85"/>
          </a:solidFill>
          <a:ln w="10160">
            <a:solidFill>
              <a:srgbClr val="268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9444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问题拆解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50008"/>
            <a:ext cx="8046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将自然语言复杂问题转化为结构化检索需求与子问题序列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35808"/>
            <a:ext cx="960120" cy="256032"/>
          </a:xfrm>
          <a:prstGeom prst="rect">
            <a:avLst/>
          </a:prstGeom>
          <a:solidFill>
            <a:srgbClr val="C48F37"/>
          </a:solidFill>
          <a:ln w="10160">
            <a:solidFill>
              <a:srgbClr val="C4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67812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规划调度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008376"/>
            <a:ext cx="8046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建立 Local / Structural / Global 路由与分层图索引的映射机制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94176"/>
            <a:ext cx="960120" cy="256032"/>
          </a:xfrm>
          <a:prstGeom prst="rect">
            <a:avLst/>
          </a:prstGeom>
          <a:solidFill>
            <a:srgbClr val="AE4643"/>
          </a:solidFill>
          <a:ln w="10160">
            <a:solidFill>
              <a:srgbClr val="AE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26180"/>
            <a:ext cx="960120" cy="164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PingFang SC"/>
              </a:rPr>
              <a:t>实验验证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666744"/>
            <a:ext cx="8046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E232A"/>
                </a:solidFill>
                <a:latin typeface="PingFang SC"/>
              </a:rPr>
              <a:t>在合同数据集与业务案例中验证检索纯度、语义一致性和可解释性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4114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42E52"/>
                </a:solidFill>
                <a:latin typeface="PingFang SC"/>
              </a:rPr>
              <a:t>未来工作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99669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1E232A"/>
                </a:solidFill>
                <a:latin typeface="PingFang SC"/>
              </a:rPr>
              <a:t>提升问题拆解的自动化、可控性与异常兜底能力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1E232A"/>
                </a:solidFill>
                <a:latin typeface="PingFang SC"/>
              </a:rPr>
              <a:t>探索动态知识图谱更新与长期决策一致性维护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1E232A"/>
                </a:solidFill>
                <a:latin typeface="PingFang SC"/>
              </a:rPr>
              <a:t>将稳定事实账本扩展到具备外部行动能力的企业 Agent 工作流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89320"/>
            <a:ext cx="10698480" cy="38404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016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6099048"/>
            <a:ext cx="1042416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40" b="1">
                <a:solidFill>
                  <a:srgbClr val="142E52"/>
                </a:solidFill>
                <a:latin typeface="PingFang SC"/>
              </a:rPr>
              <a:t>汇报总结：E-GraphRAG 的核心价值在于通过问题拆解与路由调度，将 GraphRAG 从静态图检索推进为规划驱动的企业知识检索框架。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652</Words>
  <Application>Microsoft Macintosh PowerPoint</Application>
  <PresentationFormat>宽屏</PresentationFormat>
  <Paragraphs>243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PingFang SC</vt:lpstr>
      <vt:lpstr>Songti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沈秋雨</cp:lastModifiedBy>
  <cp:revision>2</cp:revision>
  <dcterms:created xsi:type="dcterms:W3CDTF">2013-01-27T09:14:16Z</dcterms:created>
  <dcterms:modified xsi:type="dcterms:W3CDTF">2026-05-19T02:56:00Z</dcterms:modified>
  <cp:category/>
</cp:coreProperties>
</file>