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2" pos="1436" userDrawn="1">
          <p15:clr>
            <a:srgbClr val="A4A3A4"/>
          </p15:clr>
        </p15:guide>
        <p15:guide id="3" pos="7287" userDrawn="1">
          <p15:clr>
            <a:srgbClr val="A4A3A4"/>
          </p15:clr>
        </p15:guide>
        <p15:guide id="4" orient="horz" pos="39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468F"/>
    <a:srgbClr val="004098"/>
    <a:srgbClr val="143B7D"/>
    <a:srgbClr val="C7000B"/>
    <a:srgbClr val="005AA0"/>
    <a:srgbClr val="005FAC"/>
    <a:srgbClr val="9A0000"/>
    <a:srgbClr val="00468E"/>
    <a:srgbClr val="035FA3"/>
    <a:srgbClr val="9F0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6327"/>
  </p:normalViewPr>
  <p:slideViewPr>
    <p:cSldViewPr snapToGrid="0" snapToObjects="1" showGuides="1">
      <p:cViewPr varScale="1">
        <p:scale>
          <a:sx n="123" d="100"/>
          <a:sy n="123" d="100"/>
        </p:scale>
        <p:origin x="656" y="192"/>
      </p:cViewPr>
      <p:guideLst>
        <p:guide orient="horz" pos="1049"/>
        <p:guide pos="1436"/>
        <p:guide pos="7287"/>
        <p:guide orient="horz" pos="3929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D36C3-175F-4C9B-B186-3F8DAA07ABFA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BD9CA3-9ECD-4580-AB7E-87D71C46441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1C2558-E8EC-49AF-91FD-C81BE876AB14}" type="datetimeFigureOut">
              <a:rPr lang="zh-CN" altLang="en-US" smtClean="0"/>
              <a:t>2026/5/20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679BA1-36BC-42F9-9E96-4D89F0626BB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11480"/>
            <a:ext cx="2057400" cy="65942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88952" cy="100584"/>
          </a:xfrm>
          <a:prstGeom prst="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l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88952" cy="502920"/>
          </a:xfrm>
          <a:prstGeom prst="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l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96926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04650"/>
                </a:solidFill>
                <a:latin typeface="SimSun"/>
              </a:rPr>
              <a:t>基于GraphRAG的企业知识库检索优化研究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59152"/>
            <a:ext cx="3840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C29748"/>
                </a:solidFill>
                <a:latin typeface="Microsoft YaHei"/>
              </a:rPr>
              <a:t>10分钟论文汇报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8680" y="2907792"/>
            <a:ext cx="4709160" cy="0"/>
          </a:xfrm>
          <a:prstGeom prst="line">
            <a:avLst/>
          </a:prstGeom>
          <a:ln w="2794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" y="3182112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汇报人：沈秋雨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493008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指导教师：程秀峰 教授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803904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学科专业：图书情报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4297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研究方向：信息组织与检索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00600"/>
            <a:ext cx="3840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C6B73"/>
                </a:solidFill>
                <a:latin typeface="Microsoft YaHei"/>
              </a:rPr>
              <a:t>华中师范大学信息管理学院
2026年5月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7589520" y="2176272"/>
            <a:ext cx="1463040" cy="411480"/>
          </a:xfrm>
          <a:prstGeom prst="line">
            <a:avLst/>
          </a:prstGeom>
          <a:ln w="2286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52560" y="2176272"/>
            <a:ext cx="1508760" cy="731520"/>
          </a:xfrm>
          <a:prstGeom prst="line">
            <a:avLst/>
          </a:prstGeom>
          <a:ln w="2286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092440" y="2176272"/>
            <a:ext cx="960120" cy="1874519"/>
          </a:xfrm>
          <a:prstGeom prst="line">
            <a:avLst/>
          </a:prstGeom>
          <a:ln w="2286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0195560" y="2907792"/>
            <a:ext cx="365760" cy="1371600"/>
          </a:xfrm>
          <a:prstGeom prst="line">
            <a:avLst/>
          </a:prstGeom>
          <a:ln w="2286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92440" y="4050791"/>
            <a:ext cx="2103120" cy="228601"/>
          </a:xfrm>
          <a:prstGeom prst="line">
            <a:avLst/>
          </a:prstGeom>
          <a:ln w="2286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589520" y="2587752"/>
            <a:ext cx="502920" cy="1463039"/>
          </a:xfrm>
          <a:prstGeom prst="line">
            <a:avLst/>
          </a:prstGeom>
          <a:ln w="2286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69480" y="2423160"/>
            <a:ext cx="749808" cy="38404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事实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2011679"/>
            <a:ext cx="749808" cy="38404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实体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2743200"/>
            <a:ext cx="749808" cy="38404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关系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0" y="3886200"/>
            <a:ext cx="749808" cy="38404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主题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4114800"/>
            <a:ext cx="749808" cy="38404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证据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02/12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60704"/>
            <a:ext cx="2560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29748"/>
                </a:solidFill>
                <a:latin typeface="Microsoft YaHei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219456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4650"/>
                </a:solidFill>
                <a:latin typeface="Microsoft YaHei"/>
              </a:rPr>
              <a:t>汇报内容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6537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29748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828800"/>
            <a:ext cx="1645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4650"/>
                </a:solidFill>
                <a:latin typeface="Microsoft YaHei"/>
              </a:rPr>
              <a:t>研究背景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1856231"/>
            <a:ext cx="6217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9242D"/>
                </a:solidFill>
                <a:latin typeface="Microsoft YaHei"/>
              </a:rPr>
              <a:t>企业知识检索为什么难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14400" y="2340864"/>
            <a:ext cx="8961120" cy="0"/>
          </a:xfrm>
          <a:prstGeom prst="line">
            <a:avLst/>
          </a:prstGeom>
          <a:ln w="1524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14400" y="264261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29748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06040"/>
            <a:ext cx="1645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4650"/>
                </a:solidFill>
                <a:latin typeface="Microsoft YaHei"/>
              </a:rPr>
              <a:t>核心思路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633472"/>
            <a:ext cx="6217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9242D"/>
                </a:solidFill>
                <a:latin typeface="Microsoft YaHei"/>
              </a:rPr>
              <a:t>从企业知识架构出发重构GraphRAG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3118104"/>
            <a:ext cx="8961120" cy="0"/>
          </a:xfrm>
          <a:prstGeom prst="line">
            <a:avLst/>
          </a:prstGeom>
          <a:ln w="1524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341985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29748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383280"/>
            <a:ext cx="1645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4650"/>
                </a:solidFill>
                <a:latin typeface="Microsoft YaHei"/>
              </a:rPr>
              <a:t>方法设计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3410712"/>
            <a:ext cx="6217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9242D"/>
                </a:solidFill>
                <a:latin typeface="Microsoft YaHei"/>
              </a:rPr>
              <a:t>四层图结构与Agentic Decomposer联动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" y="3895344"/>
            <a:ext cx="8961120" cy="0"/>
          </a:xfrm>
          <a:prstGeom prst="line">
            <a:avLst/>
          </a:prstGeom>
          <a:ln w="1524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419709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29748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160520"/>
            <a:ext cx="1645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4650"/>
                </a:solidFill>
                <a:latin typeface="Microsoft YaHei"/>
              </a:rPr>
              <a:t>实验验证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187952"/>
            <a:ext cx="6217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9242D"/>
                </a:solidFill>
                <a:latin typeface="Microsoft YaHei"/>
              </a:rPr>
              <a:t>数据集构建与关键结果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4672583"/>
            <a:ext cx="8961120" cy="0"/>
          </a:xfrm>
          <a:prstGeom prst="line">
            <a:avLst/>
          </a:prstGeom>
          <a:ln w="1524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14400" y="4974336"/>
            <a:ext cx="6400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C29748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37759"/>
            <a:ext cx="16459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4650"/>
                </a:solidFill>
                <a:latin typeface="Microsoft YaHei"/>
              </a:rPr>
              <a:t>结论展望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63240" y="4965192"/>
            <a:ext cx="6217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9242D"/>
                </a:solidFill>
                <a:latin typeface="Microsoft YaHei"/>
              </a:rPr>
              <a:t>适用场景与后续方向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5449823"/>
            <a:ext cx="8961120" cy="0"/>
          </a:xfrm>
          <a:prstGeom prst="line">
            <a:avLst/>
          </a:prstGeom>
          <a:ln w="1524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4400" y="5806440"/>
            <a:ext cx="9966960" cy="457200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主线：企业知识天然分层 → 图谱分层组织 → Query规划路由 → 多粒度证据召回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研究背景：企业知识检索的核心矛盾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03/12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1005840"/>
            <a:ext cx="86868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C6B73"/>
                </a:solidFill>
                <a:latin typeface="Microsoft YaHei"/>
              </a:rPr>
              <a:t>企业知识不同于普通网页文本，检索系统需要同时处理三个粒度。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664208"/>
            <a:ext cx="1234440" cy="310896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84831"/>
            <a:ext cx="3154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04650"/>
                </a:solidFill>
                <a:latin typeface="Microsoft YaHei"/>
              </a:rPr>
              <a:t>细粒度事实密集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97480"/>
            <a:ext cx="3154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0">
                <a:solidFill>
                  <a:srgbClr val="19242D"/>
                </a:solidFill>
                <a:latin typeface="Microsoft YaHei"/>
              </a:rPr>
              <a:t>金额、期限、义务、责任主体
需要条款级精准定位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64208"/>
            <a:ext cx="1234440" cy="310896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Structural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084831"/>
            <a:ext cx="3154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04650"/>
                </a:solidFill>
                <a:latin typeface="Microsoft YaHei"/>
              </a:rPr>
              <a:t>跨条款关系复杂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697480"/>
            <a:ext cx="3154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0">
                <a:solidFill>
                  <a:srgbClr val="19242D"/>
                </a:solidFill>
                <a:latin typeface="Microsoft YaHei"/>
              </a:rPr>
              <a:t>触发条件、例外条款、责任链
需要显式结构推理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664208"/>
            <a:ext cx="1234440" cy="310896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Global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084831"/>
            <a:ext cx="315468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04650"/>
                </a:solidFill>
                <a:latin typeface="Microsoft YaHei"/>
              </a:rPr>
              <a:t>全局语义需整合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697480"/>
            <a:ext cx="3154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0">
                <a:solidFill>
                  <a:srgbClr val="19242D"/>
                </a:solidFill>
                <a:latin typeface="Microsoft YaHei"/>
              </a:rPr>
              <a:t>合同风险、义务分布、主题画像
需要宏观归纳能力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315968"/>
            <a:ext cx="4892040" cy="987552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传统VectorRAG：能找相似文本，但缺少结构关系。
原生GraphRAG：能做全局社区摘要，但容易弱化底层事实定位。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9632" y="4315968"/>
            <a:ext cx="4983480" cy="987552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本文问题：如何在企业文档中同时保持局部证据精确性、结构关系可推理性和全局语义整合能力？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研究目标：从企业知识架构出发重构GraphRAG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04/12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005840"/>
            <a:ext cx="9326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C6B73"/>
                </a:solidFill>
                <a:latin typeface="Microsoft YaHei"/>
              </a:rPr>
              <a:t>E-GraphRAG不是简单“加图谱”，而是将知识组织和检索调度同时改造。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057400"/>
            <a:ext cx="1783080" cy="502920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企业文档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697480"/>
            <a:ext cx="17830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00" b="0">
                <a:solidFill>
                  <a:srgbClr val="19242D"/>
                </a:solidFill>
                <a:latin typeface="Microsoft YaHei"/>
              </a:rPr>
              <a:t>合同、制度、SOP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3744" y="2313432"/>
            <a:ext cx="402336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53512" y="2057400"/>
            <a:ext cx="1783080" cy="502920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四层知识图谱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53512" y="2697480"/>
            <a:ext cx="17830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00" b="0">
                <a:solidFill>
                  <a:srgbClr val="19242D"/>
                </a:solidFill>
                <a:latin typeface="Microsoft YaHei"/>
              </a:rPr>
              <a:t>事实-实体-关系-主题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64024" y="2313432"/>
            <a:ext cx="402336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193792" y="2057400"/>
            <a:ext cx="1783080" cy="502920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Query规划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93792" y="2697480"/>
            <a:ext cx="17830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00" b="0">
                <a:solidFill>
                  <a:srgbClr val="19242D"/>
                </a:solidFill>
                <a:latin typeface="Microsoft YaHei"/>
              </a:rPr>
              <a:t>意图拆解与需求编译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004304" y="2313432"/>
            <a:ext cx="402336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34072" y="2057400"/>
            <a:ext cx="1783080" cy="502920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三类路由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34072" y="2697480"/>
            <a:ext cx="17830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00" b="0">
                <a:solidFill>
                  <a:srgbClr val="19242D"/>
                </a:solidFill>
                <a:latin typeface="Microsoft YaHei"/>
              </a:rPr>
              <a:t>Local / Structural / Global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44584" y="2313432"/>
            <a:ext cx="402336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674352" y="2057400"/>
            <a:ext cx="1783080" cy="502920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证据回答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4352" y="2697480"/>
            <a:ext cx="178308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100" b="0">
                <a:solidFill>
                  <a:srgbClr val="19242D"/>
                </a:solidFill>
                <a:latin typeface="Microsoft YaHei"/>
              </a:rPr>
              <a:t>可追溯、低噪声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" y="4224528"/>
            <a:ext cx="99669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297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700" b="1">
                <a:solidFill>
                  <a:srgbClr val="004650"/>
                </a:solidFill>
                <a:latin typeface="Microsoft YaHei"/>
              </a:rPr>
              <a:t>底层：四层结构解决“企业知识如何被组织”
顶层：Agentic Decomposer解决“用户问题应进入哪一层检索”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486400"/>
            <a:ext cx="9235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400">
                <a:solidFill>
                  <a:srgbClr val="19242D"/>
                </a:solidFill>
                <a:latin typeface="Microsoft YaHei"/>
              </a:rPr>
              <a:t>目标不是最大化召回，而是在低容错企业场景中提升证据纯度、逻辑稳定性和可追溯性。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为什么要分四层结构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05/12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325880"/>
            <a:ext cx="1234440" cy="475488"/>
          </a:xfrm>
          <a:prstGeom prst="roundRect">
            <a:avLst/>
          </a:prstGeom>
          <a:solidFill>
            <a:srgbClr val="004650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社区层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30552" y="1325880"/>
            <a:ext cx="4251960" cy="475488"/>
          </a:xfrm>
          <a:prstGeom prst="roundRect">
            <a:avLst/>
          </a:prstGeom>
          <a:solidFill>
            <a:srgbClr val="004650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宏观主题：风险类型、义务群组、争议解决机制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99032"/>
            <a:ext cx="777240" cy="310896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Global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2075688"/>
            <a:ext cx="1234440" cy="475488"/>
          </a:xfrm>
          <a:prstGeom prst="roundRect">
            <a:avLst/>
          </a:prstGeom>
          <a:solidFill>
            <a:srgbClr val="006369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关键词/关系层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075688"/>
            <a:ext cx="3611880" cy="475488"/>
          </a:xfrm>
          <a:prstGeom prst="roundRect">
            <a:avLst/>
          </a:prstGeom>
          <a:solidFill>
            <a:srgbClr val="006369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中观连接：条款关系、主题词、跨片段路径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48840"/>
            <a:ext cx="777240" cy="310896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Structural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2825496"/>
            <a:ext cx="1234440" cy="475488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19242D"/>
                </a:solidFill>
                <a:latin typeface="Microsoft YaHei"/>
              </a:rPr>
              <a:t>实体层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2825496"/>
            <a:ext cx="2971800" cy="475488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业务对象：合同主体、条款对象、责任主体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59" y="2898648"/>
            <a:ext cx="777240" cy="310896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Local / Structural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3575303"/>
            <a:ext cx="12344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19242D"/>
                </a:solidFill>
                <a:latin typeface="Microsoft YaHei"/>
              </a:rPr>
              <a:t>属性层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90672" y="3575303"/>
            <a:ext cx="233172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原子事实：金额、期限、义务、限制条件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32120" y="3648456"/>
            <a:ext cx="777240" cy="310896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/>
              </a:rPr>
              <a:t>Local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4498848"/>
            <a:ext cx="61264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l"/>
            <a:r>
              <a:rPr sz="1300" b="0">
                <a:solidFill>
                  <a:srgbClr val="004650"/>
                </a:solidFill>
                <a:latin typeface="Microsoft YaHei"/>
              </a:rPr>
              <a:t>Chunk 原文片段不直接参与拓扑路径计算，而是作为每个节点/关系的底层证据来源，保证可追溯。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1298448"/>
            <a:ext cx="2011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04650"/>
                </a:solidFill>
                <a:latin typeface="Microsoft YaHei"/>
              </a:rPr>
              <a:t>设计理由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1783080"/>
            <a:ext cx="384048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300">
                <a:solidFill>
                  <a:srgbClr val="19242D"/>
                </a:solidFill>
                <a:latin typeface="Microsoft YaHei"/>
              </a:rPr>
              <a:t>企业知识天然具有“微观事实-业务实体-结构关系-宏观主题”的层级。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300">
                <a:solidFill>
                  <a:srgbClr val="19242D"/>
                </a:solidFill>
                <a:latin typeface="Microsoft YaHei"/>
              </a:rPr>
              <a:t>只保留文本块：能召回但难以推理。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300">
                <a:solidFill>
                  <a:srgbClr val="19242D"/>
                </a:solidFill>
                <a:latin typeface="Microsoft YaHei"/>
              </a:rPr>
              <a:t>只依赖社区摘要：能概括但容易丢失细节。</a:t>
            </a:r>
          </a:p>
          <a:p>
            <a:pPr algn="l">
              <a:spcAft>
                <a:spcPts val="800"/>
              </a:spcAft>
            </a:pPr>
            <a:r>
              <a:rPr sz="13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300">
                <a:solidFill>
                  <a:srgbClr val="19242D"/>
                </a:solidFill>
                <a:latin typeface="Microsoft YaHei"/>
              </a:rPr>
              <a:t>四层结构让不同类型的问题进入匹配的证据空间。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4919472"/>
            <a:ext cx="3886200" cy="676656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核心：用结构分层把企业知识从碎片文本变成可路由、可推理、可溯源的知识空间。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四层结构如何与Agentic Decomposer联动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06/12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143000"/>
            <a:ext cx="1508760" cy="502920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用户Query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7432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l"/>
            <a:r>
              <a:rPr sz="1200" b="0">
                <a:solidFill>
                  <a:srgbClr val="19242D"/>
                </a:solidFill>
                <a:latin typeface="Microsoft YaHei"/>
              </a:rPr>
              <a:t>这份合同中有哪些可能影响后续履约风险的条款？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56432" y="2148840"/>
            <a:ext cx="612648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096512" y="1554480"/>
            <a:ext cx="1600200" cy="1143000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Agentic
Decomposer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42432" y="2148840"/>
            <a:ext cx="585216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55080" y="1143000"/>
            <a:ext cx="2011680" cy="502920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结构化检索计划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783080"/>
            <a:ext cx="21488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route_type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semantic_need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anchors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target_patterns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检索预算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49640" y="2148840"/>
            <a:ext cx="502920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098280" y="1115568"/>
            <a:ext cx="960120" cy="384048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Local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04120" y="1115568"/>
            <a:ext cx="1508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4384" rIns="36576" bIns="24384" rtlCol="0" anchor="ctr"/>
          <a:lstStyle/>
          <a:p>
            <a:pPr algn="ctr"/>
            <a:r>
              <a:rPr sz="900" b="0">
                <a:solidFill>
                  <a:srgbClr val="19242D"/>
                </a:solidFill>
                <a:latin typeface="Microsoft YaHei"/>
              </a:rPr>
              <a:t>查违约责任、终止条件等具体条款
→ 属性层 / 实体层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2029967"/>
            <a:ext cx="960120" cy="384048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Structural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04120" y="2029967"/>
            <a:ext cx="1508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4384" rIns="36576" bIns="24384" rtlCol="0" anchor="ctr"/>
          <a:lstStyle/>
          <a:p>
            <a:pPr algn="ctr"/>
            <a:r>
              <a:rPr sz="900" b="0">
                <a:solidFill>
                  <a:srgbClr val="19242D"/>
                </a:solidFill>
                <a:latin typeface="Microsoft YaHei"/>
              </a:rPr>
              <a:t>识别条款之间的条件依赖
→ 关系层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2944368"/>
            <a:ext cx="960120" cy="384048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04120" y="2944368"/>
            <a:ext cx="1508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" tIns="24384" rIns="36576" bIns="24384" rtlCol="0" anchor="ctr"/>
          <a:lstStyle/>
          <a:p>
            <a:pPr algn="ctr"/>
            <a:r>
              <a:rPr sz="900" b="0">
                <a:solidFill>
                  <a:srgbClr val="19242D"/>
                </a:solidFill>
                <a:latin typeface="Microsoft YaHei"/>
              </a:rPr>
              <a:t>形成整体风险画像
→ 社区层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892040"/>
            <a:ext cx="10287000" cy="694944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一句话：四层图结构提供“可检索的知识空间”，Agentic Decomposer决定“问题应该进入哪一层、以什么顺序检索”。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为什么这样设计：复合型企业问题需要动态组合路径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07/12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1005840"/>
            <a:ext cx="9601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C6B73"/>
                </a:solidFill>
                <a:latin typeface="Microsoft YaHei"/>
              </a:rPr>
              <a:t>“这份合同有没有风险？”表面是全局问题，实际需要三步证据链。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1719072"/>
            <a:ext cx="23317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04650"/>
                </a:solidFill>
                <a:latin typeface="Microsoft YaHei"/>
              </a:rPr>
              <a:t>先定位底层条款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23160"/>
            <a:ext cx="2926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违约责任、保密义务、终止条件、责任限制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1640" y="3547872"/>
            <a:ext cx="1097280" cy="34747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Local</a:t>
            </a:r>
          </a:p>
        </p:txBody>
      </p:sp>
      <p:sp>
        <p:nvSpPr>
          <p:cNvPr id="11" name="Oval 10"/>
          <p:cNvSpPr/>
          <p:nvPr/>
        </p:nvSpPr>
        <p:spPr>
          <a:xfrm>
            <a:off x="4526279" y="1828800"/>
            <a:ext cx="457200" cy="457200"/>
          </a:xfrm>
          <a:prstGeom prst="ellipse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719072"/>
            <a:ext cx="23317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04650"/>
                </a:solidFill>
                <a:latin typeface="Microsoft YaHei"/>
              </a:rPr>
              <a:t>再识别条款关系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79" y="2423160"/>
            <a:ext cx="2926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触发条件、例外范围、责任链条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40679" y="3547872"/>
            <a:ext cx="1097280" cy="34747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Structural</a:t>
            </a:r>
          </a:p>
        </p:txBody>
      </p:sp>
      <p:sp>
        <p:nvSpPr>
          <p:cNvPr id="15" name="Oval 14"/>
          <p:cNvSpPr/>
          <p:nvPr/>
        </p:nvSpPr>
        <p:spPr>
          <a:xfrm>
            <a:off x="8275319" y="1828800"/>
            <a:ext cx="457200" cy="457200"/>
          </a:xfrm>
          <a:prstGeom prst="ellipse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719072"/>
            <a:ext cx="233172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04650"/>
                </a:solidFill>
                <a:latin typeface="Microsoft YaHei"/>
              </a:rPr>
              <a:t>最后形成风险判断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19" y="2423160"/>
            <a:ext cx="292608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争议解决、赔偿责任、信息安全风险画像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19" y="3547872"/>
            <a:ext cx="1097280" cy="34747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</a:rPr>
              <a:t>Global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" y="4681728"/>
            <a:ext cx="10149840" cy="841248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直接走全局摘要：可能遗漏关键条款
只走局部检索：难以形成风险判断
规划驱动检索：按问题意图动态组合 Local / Structural / Global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如何确保用户Query需求被正确映射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08/12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89888" y="1444752"/>
            <a:ext cx="224028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04650"/>
                </a:solidFill>
                <a:latin typeface="Microsoft YaHei"/>
              </a:rPr>
              <a:t>任务类型约束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先归入 Local / Structural / Global，而不是直接全文检索。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94760" y="1920240"/>
            <a:ext cx="393192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389120" y="1508760"/>
            <a:ext cx="502920" cy="502920"/>
          </a:xfrm>
          <a:prstGeom prst="ellipse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7488" y="1444752"/>
            <a:ext cx="224028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04650"/>
                </a:solidFill>
                <a:latin typeface="Microsoft YaHei"/>
              </a:rPr>
              <a:t>Schema约束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结合合同实体类型、关系类型和条款类型生成检索需求。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452360" y="1920240"/>
            <a:ext cx="393192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8046720" y="1508760"/>
            <a:ext cx="502920" cy="502920"/>
          </a:xfrm>
          <a:prstGeom prst="ellipse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" tIns="6096" rIns="9144" bIns="6096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05088" y="1444752"/>
            <a:ext cx="224028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04650"/>
                </a:solidFill>
                <a:latin typeface="Microsoft YaHei"/>
              </a:rPr>
              <a:t>路由字段约束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210312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0">
                <a:solidFill>
                  <a:srgbClr val="19242D"/>
                </a:solidFill>
                <a:latin typeface="Microsoft YaHei"/>
              </a:rPr>
              <a:t>每个子问题必须包含 route_type、anchors、target_patterns 等字段。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069080"/>
            <a:ext cx="1508760" cy="457200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后端编译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78608" y="4297680"/>
            <a:ext cx="548640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182112" y="3886200"/>
            <a:ext cx="51206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400" b="0">
                <a:solidFill>
                  <a:srgbClr val="19242D"/>
                </a:solidFill>
                <a:latin typeface="Microsoft YaHei"/>
              </a:rPr>
              <a:t>结构化检索需求 → 可执行检索动作
Top-k、搜索半径、目标文档范围、回退机制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66760" y="4297680"/>
            <a:ext cx="548640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979408" y="4069080"/>
            <a:ext cx="2240280" cy="457200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降低自然语言意图与检索层脱节的风险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5840" y="5358384"/>
            <a:ext cx="10149840" cy="475488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600" b="1">
                <a:solidFill>
                  <a:srgbClr val="004650"/>
                </a:solidFill>
                <a:latin typeface="Microsoft YaHei"/>
              </a:rPr>
              <a:t>核心保障：任务分类 + Schema约束 + 结构化路由字段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数据集构建：如何确保符合核心研究场景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09/12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987552"/>
            <a:ext cx="7315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C6B73"/>
                </a:solidFill>
                <a:latin typeface="Microsoft YaHei"/>
              </a:rPr>
              <a:t>本文选择 CUAD 合同数据集作为典型企业文档语料。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47088"/>
            <a:ext cx="1572768" cy="47548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CUAD合同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15727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00" b="0">
                <a:solidFill>
                  <a:srgbClr val="19242D"/>
                </a:solidFill>
                <a:latin typeface="Microsoft YaHei"/>
              </a:rPr>
              <a:t>企业级长文档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67128" y="2093976"/>
            <a:ext cx="374904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33472" y="1847088"/>
            <a:ext cx="1572768" cy="47548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条款切片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33472" y="2423160"/>
            <a:ext cx="15727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00" b="0">
                <a:solidFill>
                  <a:srgbClr val="19242D"/>
                </a:solidFill>
                <a:latin typeface="Microsoft YaHei"/>
              </a:rPr>
              <a:t>保留Chunk溯源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2093976"/>
            <a:ext cx="374904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18304" y="1847088"/>
            <a:ext cx="1572768" cy="47548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Schema抽取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18304" y="2423160"/>
            <a:ext cx="15727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00" b="0">
                <a:solidFill>
                  <a:srgbClr val="19242D"/>
                </a:solidFill>
                <a:latin typeface="Microsoft YaHei"/>
              </a:rPr>
              <a:t>实体/属性/关系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336792" y="2093976"/>
            <a:ext cx="374904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03136" y="1847088"/>
            <a:ext cx="1572768" cy="47548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分层图谱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03136" y="2423160"/>
            <a:ext cx="15727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00" b="0">
                <a:solidFill>
                  <a:srgbClr val="19242D"/>
                </a:solidFill>
                <a:latin typeface="Microsoft YaHei"/>
              </a:rPr>
              <a:t>四层知识空间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21624" y="2093976"/>
            <a:ext cx="374904" cy="0"/>
          </a:xfrm>
          <a:prstGeom prst="line">
            <a:avLst/>
          </a:prstGeom>
          <a:ln w="2540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87967" y="1847088"/>
            <a:ext cx="1572768" cy="475488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测试任务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87967" y="2423160"/>
            <a:ext cx="157276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000" b="0">
                <a:solidFill>
                  <a:srgbClr val="19242D"/>
                </a:solidFill>
                <a:latin typeface="Microsoft YaHei"/>
              </a:rPr>
              <a:t>Local/Structural/Global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794760"/>
            <a:ext cx="5669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为什么合同数据符合企业知识检索核心场景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251960"/>
            <a:ext cx="585216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合同是典型企业知识载体，具有明确条款结构和审计需求。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条款内包含金额、期限、主体、义务等细粒度事实。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条款间存在条件、例外、责任边界等结构关系。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>
                <a:solidFill>
                  <a:srgbClr val="19242D"/>
                </a:solidFill>
                <a:latin typeface="Microsoft YaHei"/>
              </a:rPr>
              <a:t>合同风险审查需要从多个条款上升到全局语义判断。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886200"/>
            <a:ext cx="3474720" cy="1572768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测试任务围绕三类能力构建：
单条款业务问题
条款解释型问题
多条款联动问题
合同风险审查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实验结果：按三类企业知识任务观察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10/12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960120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C6B73"/>
                </a:solidFill>
                <a:latin typeface="Microsoft YaHei"/>
              </a:rPr>
              <a:t>表5-6关键指标摘录；括号内为主要对照基线，用于说明改进来自哪类能力。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417320"/>
            <a:ext cx="3566160" cy="402336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Local 局部事实检索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566160" cy="310896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 dirty="0" err="1">
                <a:solidFill>
                  <a:srgbClr val="004650"/>
                </a:solidFill>
                <a:latin typeface="Microsoft YaHei"/>
              </a:rPr>
              <a:t>查具体条款</a:t>
            </a:r>
            <a:r>
              <a:rPr sz="1200" b="1" dirty="0">
                <a:solidFill>
                  <a:srgbClr val="004650"/>
                </a:solidFill>
                <a:latin typeface="Microsoft YaHei"/>
              </a:rPr>
              <a:t> / </a:t>
            </a:r>
            <a:r>
              <a:rPr sz="1200" b="1" dirty="0" err="1">
                <a:solidFill>
                  <a:srgbClr val="004650"/>
                </a:solidFill>
                <a:latin typeface="Microsoft YaHei"/>
              </a:rPr>
              <a:t>金额</a:t>
            </a:r>
            <a:r>
              <a:rPr sz="1200" b="1" dirty="0">
                <a:solidFill>
                  <a:srgbClr val="004650"/>
                </a:solidFill>
                <a:latin typeface="Microsoft YaHei"/>
              </a:rPr>
              <a:t> / </a:t>
            </a:r>
            <a:r>
              <a:rPr sz="1200" b="1" dirty="0" err="1">
                <a:solidFill>
                  <a:srgbClr val="004650"/>
                </a:solidFill>
                <a:latin typeface="Microsoft YaHei"/>
              </a:rPr>
              <a:t>期限</a:t>
            </a:r>
            <a:endParaRPr sz="1200" b="1" dirty="0">
              <a:solidFill>
                <a:srgbClr val="004650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3337560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Context Precision：0.8765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vs GraphRAG 0.6763 / VectorRAG 0.6480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Answer Correctness：0.7216（最高）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Semantic Similarity：0.9105（最高）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背景噪声：35.6% → 12.3%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15968"/>
            <a:ext cx="35661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0480" rIns="45720" bIns="30480" rtlCol="0" anchor="ctr"/>
          <a:lstStyle/>
          <a:p>
            <a:pPr algn="ctr"/>
            <a:r>
              <a:rPr sz="1400" b="0" dirty="0" err="1">
                <a:solidFill>
                  <a:srgbClr val="19242D"/>
                </a:solidFill>
                <a:latin typeface="Microsoft YaHei"/>
              </a:rPr>
              <a:t>说明：局部路由把问题压到属性</a:t>
            </a:r>
            <a:r>
              <a:rPr sz="1400" b="0" dirty="0">
                <a:solidFill>
                  <a:srgbClr val="19242D"/>
                </a:solidFill>
                <a:latin typeface="Microsoft YaHei"/>
              </a:rPr>
              <a:t>/</a:t>
            </a:r>
            <a:r>
              <a:rPr sz="1400" b="0" dirty="0" err="1">
                <a:solidFill>
                  <a:srgbClr val="19242D"/>
                </a:solidFill>
                <a:latin typeface="Microsoft YaHei"/>
              </a:rPr>
              <a:t>实体证据空间，减少无关条款干扰</a:t>
            </a:r>
            <a:r>
              <a:rPr sz="1400" b="0" dirty="0">
                <a:solidFill>
                  <a:srgbClr val="19242D"/>
                </a:solidFill>
                <a:latin typeface="Microsoft YaHei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17320"/>
            <a:ext cx="3566160" cy="402336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Structural 结构关系推理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74519"/>
            <a:ext cx="3566160" cy="310896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 dirty="0" err="1">
                <a:solidFill>
                  <a:srgbClr val="004650"/>
                </a:solidFill>
                <a:latin typeface="Microsoft YaHei"/>
              </a:rPr>
              <a:t>查跨条款关系</a:t>
            </a:r>
            <a:r>
              <a:rPr sz="1200" b="1" dirty="0">
                <a:solidFill>
                  <a:srgbClr val="004650"/>
                </a:solidFill>
                <a:latin typeface="Microsoft YaHei"/>
              </a:rPr>
              <a:t> / </a:t>
            </a:r>
            <a:r>
              <a:rPr sz="1200" b="1" dirty="0" err="1">
                <a:solidFill>
                  <a:srgbClr val="004650"/>
                </a:solidFill>
                <a:latin typeface="Microsoft YaHei"/>
              </a:rPr>
              <a:t>责任链</a:t>
            </a:r>
            <a:endParaRPr sz="1200" b="1" dirty="0">
              <a:solidFill>
                <a:srgbClr val="004650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407408" y="2359152"/>
            <a:ext cx="3337560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Context Precision：0.5250（最高）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vs </a:t>
            </a:r>
            <a:r>
              <a:rPr sz="1200" dirty="0" err="1">
                <a:solidFill>
                  <a:srgbClr val="19242D"/>
                </a:solidFill>
                <a:latin typeface="Microsoft YaHei"/>
              </a:rPr>
              <a:t>LightRAG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 0.4310 / GraphRAG 0.3745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Semantic Similarity：0.8453（最高）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Context Recall：0.4817（有收敛）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Answer Correctness：0.5643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4315968"/>
            <a:ext cx="35661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0480" rIns="45720" bIns="30480" rtlCol="0" anchor="ctr"/>
          <a:lstStyle/>
          <a:p>
            <a:pPr algn="ctr"/>
            <a:r>
              <a:rPr sz="1400" b="0" dirty="0" err="1">
                <a:solidFill>
                  <a:srgbClr val="19242D"/>
                </a:solidFill>
                <a:latin typeface="Microsoft YaHei"/>
              </a:rPr>
              <a:t>说明：路径约束提高证据纯度，但会牺牲部分宽泛召回</a:t>
            </a:r>
            <a:r>
              <a:rPr sz="1400" b="0" dirty="0">
                <a:solidFill>
                  <a:srgbClr val="19242D"/>
                </a:solidFill>
                <a:latin typeface="Microsoft YaHei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417320"/>
            <a:ext cx="3566160" cy="402336"/>
          </a:xfrm>
          <a:prstGeom prst="roundRect">
            <a:avLst/>
          </a:prstGeom>
          <a:solidFill>
            <a:srgbClr val="004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Global 全局语义整合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874519"/>
            <a:ext cx="3566160" cy="310896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 dirty="0" err="1">
                <a:solidFill>
                  <a:srgbClr val="004650"/>
                </a:solidFill>
                <a:latin typeface="Microsoft YaHei"/>
              </a:rPr>
              <a:t>查整体风险</a:t>
            </a:r>
            <a:r>
              <a:rPr sz="1200" b="1" dirty="0">
                <a:solidFill>
                  <a:srgbClr val="004650"/>
                </a:solidFill>
                <a:latin typeface="Microsoft YaHei"/>
              </a:rPr>
              <a:t> / </a:t>
            </a:r>
            <a:r>
              <a:rPr sz="1200" b="1" dirty="0" err="1">
                <a:solidFill>
                  <a:srgbClr val="004650"/>
                </a:solidFill>
                <a:latin typeface="Microsoft YaHei"/>
              </a:rPr>
              <a:t>主题画像</a:t>
            </a:r>
            <a:endParaRPr sz="1200" b="1" dirty="0">
              <a:solidFill>
                <a:srgbClr val="004650"/>
              </a:solidFill>
              <a:latin typeface="Microsoft YaHe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02168" y="2359152"/>
            <a:ext cx="3337560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Context Recall：0.7326（最高）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Context Precision：0.6733（最高）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Context MRR：0.9100（最高）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Answer Correctness：0.6232（最高）</a:t>
            </a:r>
          </a:p>
          <a:p>
            <a:pPr algn="l">
              <a:spcAft>
                <a:spcPts val="200"/>
              </a:spcAft>
            </a:pPr>
            <a:r>
              <a:rPr sz="1200" b="1" dirty="0">
                <a:solidFill>
                  <a:srgbClr val="C29748"/>
                </a:solidFill>
                <a:latin typeface="Microsoft YaHei"/>
              </a:rPr>
              <a:t>• </a:t>
            </a:r>
            <a:r>
              <a:rPr sz="1200" dirty="0">
                <a:solidFill>
                  <a:srgbClr val="19242D"/>
                </a:solidFill>
                <a:latin typeface="Microsoft YaHei"/>
              </a:rPr>
              <a:t>Semantic Similarity：0.9381（最高）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4315968"/>
            <a:ext cx="3566160" cy="694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tIns="30480" rIns="45720" bIns="30480" rtlCol="0" anchor="ctr"/>
          <a:lstStyle/>
          <a:p>
            <a:pPr algn="ctr"/>
            <a:r>
              <a:rPr sz="1400" b="0" dirty="0" err="1">
                <a:solidFill>
                  <a:srgbClr val="19242D"/>
                </a:solidFill>
                <a:latin typeface="Microsoft YaHei"/>
              </a:rPr>
              <a:t>说明：社区层先聚合主题，再下钻证据，提升全局判断的事实边界</a:t>
            </a:r>
            <a:r>
              <a:rPr sz="1400" b="0" dirty="0">
                <a:solidFill>
                  <a:srgbClr val="19242D"/>
                </a:solidFill>
                <a:latin typeface="Microsoft YaHei"/>
              </a:rPr>
              <a:t>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" y="5559552"/>
            <a:ext cx="10561320" cy="53035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 dirty="0" err="1">
                <a:solidFill>
                  <a:srgbClr val="FFFFFF"/>
                </a:solidFill>
                <a:latin typeface="Microsoft YaHei"/>
              </a:rPr>
              <a:t>E-GraphRAG优势主要体现在企业场景更看重的证据精确度、语义一致性、事实边界和可追溯性上</a:t>
            </a:r>
            <a:r>
              <a:rPr sz="1300" b="1" dirty="0">
                <a:solidFill>
                  <a:srgbClr val="FFFFFF"/>
                </a:solidFill>
                <a:latin typeface="Microsoft YaHei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1444752" cy="46306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65960" y="219456"/>
            <a:ext cx="7680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研究结论与适用场景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219456"/>
            <a:ext cx="914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5C6B73"/>
                </a:solidFill>
                <a:latin typeface="Microsoft YaHei"/>
              </a:rPr>
              <a:t>11/12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713232"/>
            <a:ext cx="11457432" cy="0"/>
          </a:xfrm>
          <a:prstGeom prst="line">
            <a:avLst/>
          </a:prstGeom>
          <a:ln w="12700">
            <a:solidFill>
              <a:srgbClr val="D9E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77240" y="1170432"/>
            <a:ext cx="1097280" cy="420624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结论一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0" y="1124712"/>
            <a:ext cx="86410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企业知识检索的关键不是单纯提升召回，而是让不同粒度的问题进入匹配的知识层级。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93392"/>
            <a:ext cx="1097280" cy="420624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结论二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1947672"/>
            <a:ext cx="86410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四层图结构解决知识组织问题，使微观事实、结构关系和宏观主题能够统一表达。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16352"/>
            <a:ext cx="1097280" cy="420624"/>
          </a:xfrm>
          <a:prstGeom prst="roundRect">
            <a:avLst/>
          </a:prstGeom>
          <a:solidFill>
            <a:srgbClr val="C2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" tIns="12192" rIns="18288" bIns="1219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结论三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11680" y="2770632"/>
            <a:ext cx="8641080" cy="530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l"/>
            <a:r>
              <a:rPr sz="1400" b="0">
                <a:solidFill>
                  <a:srgbClr val="19242D"/>
                </a:solidFill>
                <a:latin typeface="Microsoft YaHei"/>
              </a:rPr>
              <a:t>Agentic Decomposer解决Query到检索路径的映射问题，动态调度Local、Structural和Global。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6908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04650"/>
                </a:solidFill>
                <a:latin typeface="Microsoft YaHei"/>
              </a:rPr>
              <a:t>适用场景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1828800" cy="43891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合同审查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26079" y="4526280"/>
            <a:ext cx="1828800" cy="43891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制度问答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526280"/>
            <a:ext cx="1828800" cy="43891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企业合规分析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4526280"/>
            <a:ext cx="1828800" cy="438912"/>
          </a:xfrm>
          <a:prstGeom prst="roundRect">
            <a:avLst/>
          </a:prstGeom>
          <a:solidFill>
            <a:srgbClr val="0063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长文档风险评估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532120"/>
            <a:ext cx="9966960" cy="475488"/>
          </a:xfrm>
          <a:prstGeom prst="roundRect">
            <a:avLst/>
          </a:prstGeom>
          <a:solidFill>
            <a:srgbClr val="E5F2F1"/>
          </a:solidFill>
          <a:ln w="12700">
            <a:solidFill>
              <a:srgbClr val="D9E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ctr"/>
          <a:lstStyle/>
          <a:p>
            <a:pPr algn="ctr"/>
            <a:r>
              <a:rPr sz="1500" b="1">
                <a:solidFill>
                  <a:srgbClr val="004650"/>
                </a:solidFill>
                <a:latin typeface="Microsoft YaHei"/>
              </a:rPr>
              <a:t>后续方向：外部行动代理、知识图谱动态演进、多智能体协同评估。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10528"/>
            <a:ext cx="50292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5C6B73"/>
                </a:solidFill>
                <a:latin typeface="Microsoft YaHei"/>
              </a:rPr>
              <a:t>基于GraphRAG的企业知识库检索优化研究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6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66928" y="384048"/>
            <a:ext cx="2240280" cy="7315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28" tIns="73152" rIns="109728" bIns="73152" rtlCol="0" anchor="t"/>
          <a:lstStyle/>
          <a:p>
            <a:pPr algn="l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475488"/>
            <a:ext cx="1920240" cy="6154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31720" y="2148840"/>
            <a:ext cx="75895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SimSun"/>
              </a:rPr>
              <a:t>汇报完毕，感谢聆听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749039" y="3063240"/>
            <a:ext cx="4709161" cy="0"/>
          </a:xfrm>
          <a:prstGeom prst="line">
            <a:avLst/>
          </a:prstGeom>
          <a:ln w="27940">
            <a:solidFill>
              <a:srgbClr val="C297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383280" y="3401568"/>
            <a:ext cx="5394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  <a:latin typeface="Microsoft YaHei"/>
              </a:rPr>
              <a:t>敬请各位老师批评指正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3320" y="5257800"/>
            <a:ext cx="493776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Microsoft YaHei"/>
              </a:rPr>
              <a:t>汇报人：沈秋雨 | 华中师范大学信息管理学院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自定义 157">
      <a:dk1>
        <a:srgbClr val="343434"/>
      </a:dk1>
      <a:lt1>
        <a:srgbClr val="FEFFFF"/>
      </a:lt1>
      <a:dk2>
        <a:srgbClr val="FEFFFF"/>
      </a:dk2>
      <a:lt2>
        <a:srgbClr val="FEFFFF"/>
      </a:lt2>
      <a:accent1>
        <a:srgbClr val="005767"/>
      </a:accent1>
      <a:accent2>
        <a:srgbClr val="92D050"/>
      </a:accent2>
      <a:accent3>
        <a:srgbClr val="00B0F0"/>
      </a:accent3>
      <a:accent4>
        <a:srgbClr val="7030A0"/>
      </a:accent4>
      <a:accent5>
        <a:srgbClr val="002060"/>
      </a:accent5>
      <a:accent6>
        <a:srgbClr val="606060"/>
      </a:accent6>
      <a:hlink>
        <a:srgbClr val="FFC000"/>
      </a:hlink>
      <a:folHlink>
        <a:srgbClr val="FFC000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</TotalTime>
  <Words>756</Words>
  <Application>Microsoft Macintosh PowerPoint</Application>
  <PresentationFormat>宽屏</PresentationFormat>
  <Paragraphs>205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7" baseType="lpstr">
      <vt:lpstr>等线</vt:lpstr>
      <vt:lpstr>SimSun</vt:lpstr>
      <vt:lpstr>Microsoft YaHei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沈秋雨</cp:lastModifiedBy>
  <cp:revision>156</cp:revision>
  <dcterms:created xsi:type="dcterms:W3CDTF">2025-06-04T03:49:34Z</dcterms:created>
  <dcterms:modified xsi:type="dcterms:W3CDTF">2026-05-20T03:06:42Z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7C601E04EB1B6F0D4EC23F6872D362BD_43</vt:lpwstr>
  </property>
  <property fmtid="{D5CDD505-2E9C-101B-9397-08002B2CF9AE}" pid="3" name="KSOProductBuildVer">
    <vt:lpwstr>2052-7.4.1.8983</vt:lpwstr>
  </property>
</Properties>
</file>